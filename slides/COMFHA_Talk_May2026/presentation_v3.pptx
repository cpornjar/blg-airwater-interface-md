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 for room to settle. Don't rush.</a:t>
            </a:r>
          </a:p>
          <a:p>
            <a:r>
              <a:t>'Good morning/afternoon. Today I'll take you through our first paper on beta-lactoglobulin at the air-water interface. The title: Contact without Commitment. By the end, that phrase will be obvious.'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roadmap. Four acts.</a:t>
            </a:r>
          </a:p>
          <a:p>
            <a:r>
              <a:t>Problem: question open for 40 years.</a:t>
            </a:r>
          </a:p>
          <a:p>
            <a:r>
              <a:t>Approach: what makes this different.</a:t>
            </a:r>
          </a:p>
          <a:p>
            <a:r>
              <a:t>Findings: five results — this is the heart.</a:t>
            </a:r>
          </a:p>
          <a:p>
            <a:r>
              <a:t>Implications: pathfinder for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BLG is ~3 g/L in bovine milk — the main whey protein.</a:t>
            </a:r>
          </a:p>
          <a:p>
            <a:r>
              <a:t>It stabilises foam by forming a viscoelastic film at the AWI.</a:t>
            </a:r>
          </a:p>
          <a:p>
            <a:r>
              <a:t>BLG adsorbs slowly. There is a measured kinetic barrier.</a:t>
            </a:r>
          </a:p>
          <a:p>
            <a:r>
              <a:t>Classical explanation (Graham &amp; Phillips 1979): surface tension drives unfolding.</a:t>
            </a:r>
          </a:p>
          <a:p>
            <a:r>
              <a:t>But no one has seen this at atomic resolution. The gap — that is what we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× 12 × 35 nm slab. ~7 nm water, ~14 nm vacuum each side.</a:t>
            </a:r>
          </a:p>
          <a:p>
            <a:r>
              <a:t>CHARMM36m + TIP3P. 298 K. No pressure coupling (slab geometry).</a:t>
            </a:r>
          </a:p>
          <a:p>
            <a:r>
              <a:t>4 trajectories × 1000 ns = 4.00 µs total.</a:t>
            </a:r>
          </a:p>
          <a:p>
            <a:r>
              <a:t>Key innovation: nearest-atom metric. CoM cannot detect contact for a 4 nm protein.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613 contact events across 4 µs. 7-23% of frames per trajectory.</a:t>
            </a:r>
          </a:p>
          <a:p>
            <a:r>
              <a:t>Blue trace: nearest-atom distance for R1. Gold shading: contact windows.</a:t>
            </a:r>
          </a:p>
          <a:p>
            <a:r>
              <a:t>Atoms penetrate up to 0.79 nm past the interface plane.</a:t>
            </a:r>
          </a:p>
          <a:p>
            <a:r>
              <a:t>But every event ends — the protein retreats.</a:t>
            </a:r>
          </a:p>
          <a:p>
            <a:r>
              <a:t>BLG visits the interface constantly. It just does not stay.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 stable adsorptions in 4 microseconds. That IS the result.</a:t>
            </a:r>
          </a:p>
          <a:p>
            <a:r>
              <a:t>6 events last ≥ 10 ns. Longest is 59 ns.</a:t>
            </a:r>
          </a:p>
          <a:p>
            <a:r>
              <a:t>All 6: SASA never above 32 nm², angle never ≤ 30°.</a:t>
            </a:r>
          </a:p>
          <a:p>
            <a:r>
              <a:t>Contact is NOT the bottleneck — commitment is.</a:t>
            </a:r>
          </a:p>
          <a:p>
            <a:r>
              <a:t>59 ns contact without commitment — a real kinetic bottleneck, not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findings on one slide — both about structure.</a:t>
            </a:r>
          </a:p>
          <a:p>
            <a:r>
              <a:t>Rg flat at 1.496 ± 0.009 nm. No monotonic expansion. No global unfolding.</a:t>
            </a:r>
          </a:p>
          <a:p>
            <a:r>
              <a:t>SASA fluctuates 24-37 nm², recurring every 30-40 ns across all replicas.</a:t>
            </a:r>
          </a:p>
          <a:p>
            <a:r>
              <a:t>The calyx breathes constantly — this is a protein property.</a:t>
            </a:r>
          </a:p>
          <a:p>
            <a:r>
              <a:t>Activation is local: calyx loop opening, not global unfolding.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bulk: Loop BC (residues 30-35) is most flexible — RMSF 0.54 nm.</a:t>
            </a:r>
          </a:p>
          <a:p>
            <a:r>
              <a:t>Near AWI: Loop CD/EF (residues 57-60) becomes dominant.</a:t>
            </a:r>
          </a:p>
          <a:p>
            <a:r>
              <a:t>The interface does not just attract the protein — it changes which loop is active.</a:t>
            </a:r>
          </a:p>
          <a:p>
            <a:r>
              <a:t>Loop CD/EF borders the calyx entrance. Interface proximity selects calyx-opening motions.</a:t>
            </a:r>
          </a:p>
          <a:p>
            <a:r>
              <a:t>Engineering target: stabilise Loop CD/EF in open conformation to accelerate adsorption.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= +0.006. Essentially zero correlation.</a:t>
            </a:r>
          </a:p>
          <a:p>
            <a:r>
              <a:t>95% CI [−0.09, +0.11] from block bootstrap (accounts for SASA autocorrelation 232 ns).</a:t>
            </a:r>
          </a:p>
          <a:p>
            <a:r>
              <a:t>N_eff ≈ 17 independent observations in 4 µs — SASA is a slow variable.</a:t>
            </a:r>
          </a:p>
          <a:p>
            <a:r>
              <a:t>The two things needed for commitment (SASA high AND orientation aligned) are independent.</a:t>
            </a:r>
          </a:p>
          <a:p>
            <a:r>
              <a:t>Rare joint probability → why 59 ns contact still does not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can be brief — 45 seconds.</a:t>
            </a:r>
          </a:p>
          <a:p>
            <a:r>
              <a:t>The key point: we have 4 µs but only ~17 independent observations of SASA.</a:t>
            </a:r>
          </a:p>
          <a:p>
            <a:r>
              <a:t>SASA autocorrelation is 232 ns — the variable is slow.</a:t>
            </a:r>
          </a:p>
          <a:p>
            <a:r>
              <a:t>Block bootstrap corrects for this. CI [−0.09, +0.11] is the honest number.</a:t>
            </a:r>
          </a:p>
          <a:p>
            <a:r>
              <a:t>Raw Pearson p-value is meaningless here — do not cite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PBC artifact discovery from May 27, 2026.</a:t>
            </a:r>
          </a:p>
          <a:p>
            <a:r>
              <a:t>freeSASA has no PBC awareness. Split atoms → SASA inflated 2× .</a:t>
            </a:r>
          </a:p>
          <a:p>
            <a:r>
              <a:t>After applying MDAnalysis unwrap: SASA 45-62 → 24-37 nm², r becomes +0.006.</a:t>
            </a:r>
          </a:p>
          <a:p>
            <a:r>
              <a:t>The two-factor gate suppression was entirely an artifact.</a:t>
            </a:r>
          </a:p>
          <a:p>
            <a:r>
              <a:t>The independence result is actually more interesting and robust.</a:t>
            </a:r>
          </a:p>
          <a:p>
            <a:r>
              <a:t>Good science = find your own errors, correct them, report them fully.</a:t>
            </a:r>
          </a:p>
          <a:p>
            <a:r>
              <a:t>Disclose completely. Do not hide it. This is what makes the work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established for the first time:</a:t>
            </a:r>
          </a:p>
          <a:p>
            <a:r>
              <a:t>1. Contact frequent, commitment absent — 613 events, 0 adsorptions.</a:t>
            </a:r>
          </a:p>
          <a:p>
            <a:r>
              <a:t>2. Compact globally, loop-mediated locally — Rg flat, calyx loop opens.</a:t>
            </a:r>
          </a:p>
          <a:p>
            <a:r>
              <a:t>3. SASA ⊥ orientation on µs scale — r=+0.006, independent.</a:t>
            </a:r>
          </a:p>
          <a:p>
            <a:r>
              <a:t>The field needed this baseline. Now enhanced sampling has a well-defined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implications:</a:t>
            </a:r>
          </a:p>
          <a:p>
            <a:r>
              <a:t>1. Engineering: Loop CD/EF residues 57-60. Stabilise in open conformation.</a:t>
            </a:r>
          </a:p>
          <a:p>
            <a:r>
              <a:t>2. Enhanced sampling: well-defined CV = (SASA, θ). Metadynamics next.</a:t>
            </a:r>
          </a:p>
          <a:p>
            <a:r>
              <a:t>3. Conceptual: slow adsorption is not diffusion-limited, it is coincidence-limited.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next:</a:t>
            </a:r>
          </a:p>
          <a:p>
            <a:r>
              <a:t>Phase 2: beta-casein. IDP vs. folded BLG. Start July 2026.</a:t>
            </a:r>
          </a:p>
          <a:p>
            <a:r>
              <a:t>Enhanced sampling: metadynamics along (SASA, theta). Will quantify the barrier.</a:t>
            </a:r>
          </a:p>
          <a:p>
            <a:r>
              <a:t>Paper 1: essentially done. Pending Zenodo upload and P.P.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takeaways — say exactly these:</a:t>
            </a:r>
          </a:p>
          <a:p>
            <a:r>
              <a:t>1. Contact frequent, commitment absent.</a:t>
            </a:r>
          </a:p>
          <a:p>
            <a:r>
              <a:t>2. Compact globally, loop-mediated locally.</a:t>
            </a:r>
          </a:p>
          <a:p>
            <a:r>
              <a:t>3. SASA independent of orientation on the µs scale.</a:t>
            </a:r>
          </a:p>
          <a:p/>
          <a:p>
            <a:r>
              <a:t>Then: Thank you.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Helvetica Neue"/>
              </a:rPr>
              <a:t>Contact without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CD4"/>
                </a:solidFill>
                <a:latin typeface="Helvetica Neue"/>
              </a:rPr>
              <a:t>β-Lactoglobulin at the Air–Water Interface</a:t>
            </a:r>
          </a:p>
          <a:p>
            <a:pPr algn="ctr">
              <a:spcBef>
                <a:spcPts val="400"/>
              </a:spcBef>
            </a:pPr>
            <a:r>
              <a:rPr sz="2100" b="0" i="0">
                <a:solidFill>
                  <a:srgbClr val="00BCD4"/>
                </a:solidFill>
                <a:latin typeface="Helvetica Neue"/>
              </a:rPr>
              <a:t>First Unbiased Atomistic Molecular Dynamics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Chalakon Pornjariyawatch  ·  Prapasiri Pongprayoon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8899AA"/>
                </a:solidFill>
                <a:latin typeface="Helvetica Neue"/>
              </a:rPr>
              <a:t>Department of Chemistry, Kasetsart University  |  COMFHA Project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076895" y="5440680"/>
            <a:ext cx="3840480" cy="10972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6895" y="5440680"/>
            <a:ext cx="6350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3199" y="5532120"/>
            <a:ext cx="3657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Paper auto-review: 10/10 READY
Target: JCIS (IF ~9)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Today's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2651760" cy="635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9B59B6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96896"/>
            <a:ext cx="2103120" cy="1905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An open question for 40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27248" y="1207008"/>
            <a:ext cx="2651760" cy="635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CD4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OUR APPROACH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2596896"/>
            <a:ext cx="2103120" cy="1905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First unbiased atomistic MD at the AWI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0176" y="1207008"/>
            <a:ext cx="2651760" cy="635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0176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47B87B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THE FINDINGS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2596896"/>
            <a:ext cx="2103120" cy="1905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7336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613 contacts · 0 commitments · 5 insights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33104" y="1207008"/>
            <a:ext cx="2651760" cy="43891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3104" y="1207008"/>
            <a:ext cx="2651760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3104" y="134416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Helvetica Neu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21214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IMPLICATIONS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07424" y="2596896"/>
            <a:ext cx="210312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0264" y="2761488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  <a:latin typeface="Helvetica Neue"/>
              </a:rPr>
              <a:t>A pathfinder result for the 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652881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Helvetica Neue"/>
              </a:rPr>
              <a:t>Most time on Act 03 — that is where the science lives.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The Problem — What We Know and What Is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foam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303520" cy="43362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1115568"/>
            <a:ext cx="6065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CD4"/>
                </a:solidFill>
                <a:latin typeface="Helvetica Neue"/>
              </a:rPr>
              <a:t>β-Lactoglobulin (BLG)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527048"/>
            <a:ext cx="60652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• Dominant whey protein in bovine milk (~3 g/L)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• Forms a viscoelastic film at the air–water interface → stabilises foam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• Adsorbs slowly — seconds to minutes — a measured kinetic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493008"/>
            <a:ext cx="60652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5252"/>
                </a:solidFill>
                <a:latin typeface="Helvetica Neue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858768"/>
            <a:ext cx="6065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• All prior MD: oil–water only, pre-stressed protein, ≤ 200 ns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• CoM distance metric blind to surface contact for a 4 nm protein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5184648"/>
            <a:ext cx="6065215" cy="8686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5184648"/>
            <a:ext cx="63500" cy="8686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5276088"/>
            <a:ext cx="5882335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No unbiased atomistic simulation of native BLG at the air–water interface existed before this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Our Approach — Slab Geometry + Atomic Contact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s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069848"/>
            <a:ext cx="5669280" cy="39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069848"/>
            <a:ext cx="5562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Four independent trajectories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27048"/>
            <a:ext cx="5562295" cy="50495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18488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Helvetica Neue"/>
              </a:rPr>
              <a:t>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61848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Bulk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61848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57400"/>
            <a:ext cx="5562295" cy="504952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148840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Helvetica Neue"/>
              </a:rPr>
              <a:t>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14884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Near AWI (2 nm)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14884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87752"/>
            <a:ext cx="5562295" cy="50495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679192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5252"/>
                </a:solidFill>
                <a:latin typeface="Helvetica Neue"/>
              </a:rPr>
              <a:t>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7919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Near AWI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67919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118104"/>
            <a:ext cx="5562295" cy="504952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209544"/>
            <a:ext cx="731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7B87B"/>
                </a:solidFill>
                <a:latin typeface="Helvetica Neue"/>
              </a:rPr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20954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elvetica Neue"/>
              </a:rPr>
              <a:t>Near AWI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20954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  <a:latin typeface="Helvetica Neue"/>
              </a:rPr>
              <a:t>1,000 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75888"/>
            <a:ext cx="5562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Helvetica Neue"/>
              </a:rPr>
              <a:t>4.00 µs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53128"/>
            <a:ext cx="5562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cumulative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864608"/>
            <a:ext cx="5562295" cy="10058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864608"/>
            <a:ext cx="63500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56048"/>
            <a:ext cx="537941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Contact metric: nearest-atom ≤ 0.30 nm
(not CoM distance — recovers 613 events)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1 — Contact Is Frequent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Helvetica Neue"/>
              </a:rPr>
              <a:t>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contact events
across 4 replicas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CD4"/>
                </a:solidFill>
                <a:latin typeface="Helvetica Neue"/>
              </a:rPr>
              <a:t>7–23%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of frames in contact
per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7B87B"/>
                </a:solidFill>
                <a:latin typeface="Helvetica Neue"/>
              </a:rPr>
              <a:t>0.79 nm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deepest penetration
past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024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899AA"/>
                </a:solidFill>
                <a:latin typeface="Helvetica Neue"/>
              </a:rPr>
              <a:t>&lt; 1 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84708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typical duration
(touch and retreat)</a:t>
            </a:r>
          </a:p>
        </p:txBody>
      </p:sp>
      <p:pic>
        <p:nvPicPr>
          <p:cNvPr id="14" name="Picture 13" descr="slide_contact_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624328"/>
            <a:ext cx="8280184" cy="3108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2 — Commitment Is Absent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24128"/>
            <a:ext cx="3291840" cy="30175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24128"/>
            <a:ext cx="3291840" cy="635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6984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E05252"/>
                </a:solidFill>
                <a:latin typeface="Helvetica Neue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898647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Helvetica Neue"/>
              </a:rPr>
              <a:t>stable adsorptions in 4.00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447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99AA"/>
                </a:solidFill>
                <a:latin typeface="Helvetica Neue"/>
              </a:rPr>
              <a:t>(out of 613 contact events)</a:t>
            </a:r>
          </a:p>
        </p:txBody>
      </p:sp>
      <p:pic>
        <p:nvPicPr>
          <p:cNvPr id="11" name="Picture 10" descr="slide_long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115568"/>
            <a:ext cx="8351215" cy="350627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6032" y="5394960"/>
            <a:ext cx="11688775" cy="10972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5394960"/>
            <a:ext cx="6350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5486400"/>
            <a:ext cx="1150589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Helvetica Neue"/>
              </a:rPr>
              <a:t>"59 nanoseconds of contact. The protein reaches the interface, probes it at atomic resolution — and retreats. Still no commitment."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3 — Compact Globally, Breathing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5303520" cy="12801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63500" cy="1280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BCD4"/>
                </a:solidFill>
                <a:latin typeface="Helvetica Neue"/>
              </a:rPr>
              <a:t>Rg = 1.496 ± 0.009 nm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099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Helvetica Neue"/>
              </a:rPr>
              <a:t>Flat across 4 µs — globally compact throughout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532888"/>
            <a:ext cx="5303520" cy="12801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2532888"/>
            <a:ext cx="63500" cy="128016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24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47B87B"/>
                </a:solidFill>
                <a:latin typeface="Helvetica Neue"/>
              </a:rPr>
              <a:t>α-helix RMSD ≤ 0.14 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Helvetica Neue"/>
              </a:rPr>
              <a:t>Secondary structure intact — beta-barrel preserved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950208"/>
            <a:ext cx="5303520" cy="12801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3950208"/>
            <a:ext cx="63500" cy="128016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416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05252"/>
                </a:solidFill>
                <a:latin typeface="Helvetica Neue"/>
              </a:rPr>
              <a:t>No global unfolding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445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Helvetica Neue"/>
              </a:rPr>
              <a:t>Graham &amp; Phillips (1979) model is NOT supported</a:t>
            </a:r>
          </a:p>
        </p:txBody>
      </p:sp>
      <p:pic>
        <p:nvPicPr>
          <p:cNvPr id="18" name="Picture 17" descr="slide_sasa_brea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15568"/>
            <a:ext cx="6339535" cy="234721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56032" y="5440680"/>
            <a:ext cx="11688775" cy="10515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5440680"/>
            <a:ext cx="63500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5532120"/>
            <a:ext cx="11505895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Calyx SASA: 24–37 nm² · Recurring bursts every ~30–40 ns
Stationary stochastic process — activation is local and perpetual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4 — Interface Shifts Which Loop Opens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rmsf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9984925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1207008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4C"/>
                </a:solidFill>
                <a:latin typeface="Helvetica Neue"/>
              </a:rPr>
              <a:t>Bulk (CENTER):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Loop BC (residues 30–35)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8899AA"/>
                </a:solidFill>
                <a:latin typeface="Helvetica Neue"/>
              </a:rPr>
              <a:t>RMSF peak: 0.54 nm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Helvetica Neue"/>
              </a:rPr>
              <a:t/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00BCD4"/>
                </a:solidFill>
                <a:latin typeface="Helvetica Neue"/>
              </a:rPr>
              <a:t>Near AWI (R1):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Loop CD/EF (residues 57–60)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8899AA"/>
                </a:solidFill>
                <a:latin typeface="Helvetica Neue"/>
              </a:rPr>
              <a:t>RMSF peak: 0.39 nm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5394960"/>
            <a:ext cx="11688775" cy="109728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5394960"/>
            <a:ext cx="63500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5486400"/>
            <a:ext cx="11505895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The interface selects which loop is active.
Loop CD/EF borders the calyx entrance → proximity drives calyx-opening motions.
This identifies Loop CD/EF as the engineering target for mutant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Finding 5 — Calyx Exposure and Orientation Are Independent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15568"/>
            <a:ext cx="5698843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207008"/>
            <a:ext cx="5196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9A84C"/>
                </a:solidFill>
                <a:latin typeface="Helvetica Neue"/>
              </a:rPr>
              <a:t>r = +0.006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29968"/>
            <a:ext cx="5196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99AA"/>
                </a:solidFill>
                <a:latin typeface="Helvetica Neue"/>
              </a:rPr>
              <a:t>Pearson correlation
SASA vs. orientation θ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852928"/>
            <a:ext cx="5196535" cy="100584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2852928"/>
            <a:ext cx="63500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2864" y="2944368"/>
            <a:ext cx="501365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Block bootstrap 95% CI: [−0.09, +0.11]
Rules out |r| &gt; 0.11 at 95% 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4041648"/>
            <a:ext cx="5196535" cy="18288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4041648"/>
            <a:ext cx="63500" cy="18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2864" y="4133088"/>
            <a:ext cx="5013655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What it means:
Calyx opening and calyx alignment fluctuate independently. The two conditions needed for commitment never coincide reliably — that is why commitment is absent.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The Statistics Behind the Independence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SASA autocorrelation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1887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232 ns (range 81–394 ns across replicas)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18488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SASA is a slow variable — consecutive frames are NOT independent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414016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2414016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Effective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87168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N_eff ≈ 17 (from 4.00 µs / 2 × 232 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6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Only ~17 truly independent SASA observations across the entire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712464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712464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Block bootstrap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85616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95% CI on r: [−0.09, +0.11]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15384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Accounts for autocorrelation. Rules out |r| &gt; 0.11 — no meaningful coupling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5010912"/>
            <a:ext cx="11688775" cy="1188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5010912"/>
            <a:ext cx="63500" cy="1188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840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D4"/>
                </a:solidFill>
                <a:latin typeface="Helvetica Neue"/>
              </a:rPr>
              <a:t>N_eff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084064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Helvetica Neue"/>
              </a:rPr>
              <a:t>A common mistake: using n = 8,006 contact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13832"/>
            <a:ext cx="114144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Helvetica Neue"/>
              </a:rPr>
              <a:t>With autocorrelation, raw n inflates significance by 400×. Block bootstrap corrects this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Scientific Integrity — We Found Our Own Error and Fixed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5394960" cy="3886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5394960" cy="635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5252"/>
                </a:solidFill>
                <a:latin typeface="Helvetica Neue"/>
              </a:rPr>
              <a:t>BEFORE — PBC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01368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• freeSASA without MDAnalysis unwrap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Protein atoms split across periodic boundary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Inflated SASA: 45–62 nm² (real value: 24–37 nm²)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Apparent 3.3× gate suppression observed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→ Original paper narrative: "two-factor gate"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1032" y="1115568"/>
            <a:ext cx="5394960" cy="3886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71032" y="1115568"/>
            <a:ext cx="5394960" cy="635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2252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7B87B"/>
                </a:solidFill>
                <a:latin typeface="Helvetica Neue"/>
              </a:rPr>
              <a:t>AFTER — PBC-corrected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801368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• MDAnalysis unwrap applied every frame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All atoms in same periodic image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Corrected SASA: 24–37 nm²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r = +0.006 — no coupling, no gate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• → Current paper narrative: independence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78608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5440680"/>
            <a:ext cx="11688775" cy="10515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5440680"/>
            <a:ext cx="63500" cy="1051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5532120"/>
            <a:ext cx="11505895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Helvetica Neue"/>
              </a:rPr>
              <a:t>We found our own error. We fixed it. We disclosed it fully in the Methods.
The corrected physics — independence — is more interesting than the original artifact.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What This Work Establishes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69848"/>
            <a:ext cx="11688775" cy="9144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69848"/>
            <a:ext cx="11688775" cy="6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113687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C9A84C"/>
                </a:solidFill>
                <a:latin typeface="Helvetica Neue"/>
              </a:rPr>
              <a:t>First atomistic characterisation of the pre-commitment contact ensemble of native β-LG at the air–water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121408"/>
            <a:ext cx="3749039" cy="3474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121408"/>
            <a:ext cx="63500" cy="3474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231136"/>
            <a:ext cx="3566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D4"/>
                </a:solidFill>
                <a:latin typeface="Helvetica Neue"/>
              </a:rPr>
              <a:t>Contact frequent,
commitment absent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081528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613 events · deepest −0.79 nm
0 adsorptions in 4.00 µs
Bottleneck is commitment, not 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663" y="2121408"/>
            <a:ext cx="3749039" cy="3474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9663" y="2121408"/>
            <a:ext cx="63500" cy="347472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3" y="2231136"/>
            <a:ext cx="3566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7B87B"/>
                </a:solidFill>
                <a:latin typeface="Helvetica Neue"/>
              </a:rPr>
              <a:t>Compact globally,
loop-mediated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3" y="3081528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Rg flat at 1.496 ± 0.009 nm
Loop CD/EF activated near AWI
No global unfolding occurs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4" y="2121408"/>
            <a:ext cx="3749039" cy="347472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4" y="2121408"/>
            <a:ext cx="63500" cy="3474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4" y="2231136"/>
            <a:ext cx="35661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A84C"/>
                </a:solidFill>
                <a:latin typeface="Helvetica Neue"/>
              </a:rPr>
              <a:t>SASA ⊥ orientation
on the µs timescale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4" y="3081528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r = +0.006, CI [−0.09, +0.11]
Commitment requires enhanced sampling
This is where the barrier lives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6528816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9AA"/>
                </a:solidFill>
                <a:latin typeface="Helvetica Neue"/>
              </a:rPr>
              <a:t>This is the baseline the field needed before enhanced sampling can be designed and interpreted.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Implications for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76200" cy="1508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D4"/>
                </a:solidFill>
                <a:latin typeface="Helvetica Neue"/>
              </a:rPr>
              <a:t>Loop CD/EF is the engineering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82496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Residues 57–60 become dominant near the AWI. Mutations that stabilise this loop in the open conformation should accelerate adsorption — a direct, testable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743200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2743200"/>
            <a:ext cx="76200" cy="1508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A84C"/>
                </a:solidFill>
                <a:latin typeface="Helvetica Neue"/>
              </a:rPr>
              <a:t>Enhanced sampling now has a well-defined collective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Commitment requires sampling along (SASA, θ). Metadynamics or REST2 can now compute the free energy barrier with a physically motivated CV. SET 1D data = baseline.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4370832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4370832"/>
            <a:ext cx="76200" cy="150876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7B87B"/>
                </a:solidFill>
                <a:latin typeface="Helvetica Neue"/>
              </a:rPr>
              <a:t>Contact/commitment dichotomy reframes the kinetic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113687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Slow adsorption is not a diffusion problem — contact is frequent. The bottleneck is orientational and conformational coincidence. Prior kinetic models based on diffusion need revision.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164592"/>
            <a:ext cx="118259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Helvetica Neue"/>
              </a:rPr>
              <a:t>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713232"/>
            <a:ext cx="1182593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115568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76200" cy="1508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D4"/>
                </a:solidFill>
                <a:latin typeface="Helvetica Neue"/>
              </a:rPr>
              <a:t>Phase 2 — β-Casein (Jul–Sep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36873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Intrinsically disordered protein vs. folded BLG. Same slab geometry.
Prediction: commits within 200 ns — no two-factor bottleneck for an IDP.
AlphaFold2 structure ready.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743200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2743200"/>
            <a:ext cx="76200" cy="1508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A84C"/>
                </a:solidFill>
                <a:latin typeface="Helvetica Neue"/>
              </a:rPr>
              <a:t>Enhanced Sampling — Metadynamics along (SASA, 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1136873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Compute the PMF (free energy barrier) for commitment. SET 1D trajectories serve as the unbiased baseline.
Will quantify the kinetic barrier for the first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4370832"/>
            <a:ext cx="11688775" cy="150876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4370832"/>
            <a:ext cx="76200" cy="150876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113687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7B87B"/>
                </a:solidFill>
                <a:latin typeface="Helvetica Neue"/>
              </a:rPr>
              <a:t>Paper 1 — Submitting to JCIS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19472"/>
            <a:ext cx="1136873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Helvetica Neue"/>
              </a:rPr>
              <a:t>19 pages · 0 warnings · Auto-review Round 12: 10/10 READY
Pending: Zenodo DOI + advisor sign-off → submit.
github.com/cpornjar/blg-airwater-interface-md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164592"/>
            <a:ext cx="1187165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117344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960120"/>
            <a:ext cx="11688775" cy="1600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960120"/>
            <a:ext cx="76200" cy="1600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69848"/>
            <a:ext cx="685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CD4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088136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Contact is frequent, commitment is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64792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99AA"/>
                </a:solidFill>
                <a:latin typeface="Helvetica Neue"/>
              </a:rPr>
              <a:t>613 events · deepest −0.79 nm · 0 adsorptions in 4.00 µs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697480"/>
            <a:ext cx="11688775" cy="1600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2697480"/>
            <a:ext cx="76200" cy="1600200"/>
          </a:xfrm>
          <a:prstGeom prst="rect">
            <a:avLst/>
          </a:prstGeom>
          <a:solidFill>
            <a:srgbClr val="47B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07208"/>
            <a:ext cx="685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7B87B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25496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Compact globally, loop-mediated locally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502152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99AA"/>
                </a:solidFill>
                <a:latin typeface="Helvetica Neue"/>
              </a:rPr>
              <a:t>Rg flat 1.496 ± 0.009 nm · Loop CD/EF dominant near AWI · no unfolding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34840"/>
            <a:ext cx="11688775" cy="1600200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4434840"/>
            <a:ext cx="76200" cy="1600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544568"/>
            <a:ext cx="685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562856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SASA and orientation are independent on the µs timescale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239512"/>
            <a:ext cx="107103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99AA"/>
                </a:solidFill>
                <a:latin typeface="Helvetica Neue"/>
              </a:rPr>
              <a:t>r = +0.006 · CI [−0.09, +0.11] · commitment requires enhanced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6510528"/>
            <a:ext cx="11734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84C"/>
                </a:solidFill>
                <a:latin typeface="Helvetica Neue"/>
              </a:rPr>
              <a:t>COMFHA · Kasetsart University · May 2026 · Submitting to JCIS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288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99AA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