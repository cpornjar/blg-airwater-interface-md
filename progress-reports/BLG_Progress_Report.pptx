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8"/>
    <p:restoredTop sz="94610"/>
  </p:normalViewPr>
  <p:slideViewPr>
    <p:cSldViewPr snapToGrid="0" snapToObjects="1">
      <p:cViewPr>
        <p:scale>
          <a:sx n="149" d="100"/>
          <a:sy n="149" d="100"/>
        </p:scale>
        <p:origin x="-192" y="4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894502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3" name="Shape 1"/>
          <p:cNvSpPr/>
          <p:nvPr/>
        </p:nvSpPr>
        <p:spPr>
          <a:xfrm>
            <a:off x="0" y="73152"/>
            <a:ext cx="73152" cy="4910328"/>
          </a:xfrm>
          <a:prstGeom prst="rect">
            <a:avLst/>
          </a:prstGeom>
          <a:solidFill>
            <a:srgbClr val="148F77"/>
          </a:solidFill>
          <a:ln w="12700">
            <a:solidFill>
              <a:srgbClr val="148F77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600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REPORT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Spontaneous Adsorption of β-Lactoglobulin (1BEB)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16002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the Air–Water Interface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2057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Molecular Dynamics Simulation Study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200400" y="2487168"/>
            <a:ext cx="2743200" cy="27432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9" name="Text 7"/>
          <p:cNvSpPr/>
          <p:nvPr/>
        </p:nvSpPr>
        <p:spPr>
          <a:xfrm>
            <a:off x="457200" y="263347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 Field: CHARMM36m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514600" y="263347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Water: TIP3P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0" y="263347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GROMACS 2020.4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629400" y="263347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2026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162535"/>
          </a:solidFill>
          <a:ln w="12700">
            <a:solidFill>
              <a:srgbClr val="162535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4" name="Text 12"/>
          <p:cNvSpPr/>
          <p:nvPr/>
        </p:nvSpPr>
        <p:spPr>
          <a:xfrm>
            <a:off x="274320" y="4992624"/>
            <a:ext cx="8686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β-Lactoglobulin Adsorption at Air–Water Interface  |  CHARMM36m / GROMACS 2020.4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01168"/>
            <a:ext cx="54864" cy="566928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Objective</a:t>
            </a:r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spontaneous? Why atomistic?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877824"/>
            <a:ext cx="8503920" cy="18288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6" name="Shape 4"/>
          <p:cNvSpPr/>
          <p:nvPr/>
        </p:nvSpPr>
        <p:spPr>
          <a:xfrm>
            <a:off x="320040" y="1005840"/>
            <a:ext cx="4114800" cy="2926080"/>
          </a:xfrm>
          <a:prstGeom prst="rect">
            <a:avLst/>
          </a:prstGeom>
          <a:solidFill>
            <a:srgbClr val="162535"/>
          </a:solidFill>
          <a:ln w="12700">
            <a:solidFill>
              <a:srgbClr val="1B4F7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7" name="Text 5"/>
          <p:cNvSpPr/>
          <p:nvPr/>
        </p:nvSpPr>
        <p:spPr>
          <a:xfrm>
            <a:off x="457200" y="107899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417320"/>
            <a:ext cx="38404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previous MD studies </a:t>
            </a:r>
            <a:r>
              <a:rPr lang="en-US" sz="11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 the protein directly at the interface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This creates a biased setup that cannot reveal:
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True adsorption pathway
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Real thermodynamic driving force
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Preferred orientation selection
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Pre-adsorption conformational changes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09160" y="1005840"/>
            <a:ext cx="4114800" cy="2926080"/>
          </a:xfrm>
          <a:prstGeom prst="rect">
            <a:avLst/>
          </a:prstGeom>
          <a:solidFill>
            <a:srgbClr val="162535"/>
          </a:solidFill>
          <a:ln w="19050">
            <a:solidFill>
              <a:srgbClr val="1ABC9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10" name="Text 8"/>
          <p:cNvSpPr/>
          <p:nvPr/>
        </p:nvSpPr>
        <p:spPr>
          <a:xfrm>
            <a:off x="4846320" y="107899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Work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46320" y="1417320"/>
            <a:ext cx="38404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unbiased spontaneous adsorption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Protein placed in bulk water center
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No orientation bias, no pulling force
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1,000 ns production run
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Atomistic CHARMM36m force field
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atomistic evidence of BLG spontaneous adsorption mechanism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462272" y="2468880"/>
            <a:ext cx="228600" cy="0"/>
          </a:xfrm>
          <a:prstGeom prst="line">
            <a:avLst/>
          </a:prstGeom>
          <a:noFill/>
          <a:ln w="254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3" name="Shape 11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162535"/>
          </a:solidFill>
          <a:ln w="12700">
            <a:solidFill>
              <a:srgbClr val="162535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4" name="Text 12"/>
          <p:cNvSpPr/>
          <p:nvPr/>
        </p:nvSpPr>
        <p:spPr>
          <a:xfrm>
            <a:off x="274320" y="4992624"/>
            <a:ext cx="7772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β-Lactoglobulin Adsorption at Air–Water Interface  |  CHARMM36m / GROMACS 2020.4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412480" y="4992624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10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01168"/>
            <a:ext cx="54864" cy="566928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Configuration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Slab geometry with vacuum runways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877824"/>
            <a:ext cx="8503920" cy="18288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7" name="Text 5"/>
          <p:cNvSpPr/>
          <p:nvPr/>
        </p:nvSpPr>
        <p:spPr>
          <a:xfrm>
            <a:off x="457200" y="1097280"/>
            <a:ext cx="35661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 Figure: VMD visualization of slab system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showing vacuum / water slab / protein]</a:t>
            </a:r>
            <a:endParaRPr lang="en-US" sz="1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343400" y="1005840"/>
          <a:ext cx="4480560" cy="2926077"/>
        </p:xfrm>
        <a:graphic>
          <a:graphicData uri="http://schemas.openxmlformats.org/drawingml/2006/table">
            <a:tbl>
              <a:tblPr/>
              <a:tblGrid>
                <a:gridCol w="2240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40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600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600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ABC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Protein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β-Lactoglobulin monomer (PDB: 1BEB)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600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ABC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Force Field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CHARMM36m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600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ABC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Water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TIP3P (~55,000 molecules)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600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ABC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Box (Slab)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 × 12 × 35 nm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600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ABC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Water Slab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~7 nm thick (CoM at Z ~17.5 nm)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600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ABC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Vacuum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~14 nm each side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600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ABC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Temperature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298 K (V-rescale)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600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ABC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Timestep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fs | VdW: force-switch 1.0–1.2 nm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6600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ABC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pcoupl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 — required for slab geometry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6600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ABC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DispCorr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 — CHARMM36 slab standard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162535"/>
          </a:solidFill>
          <a:ln w="12700">
            <a:solidFill>
              <a:srgbClr val="162535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0" name="Text 7"/>
          <p:cNvSpPr/>
          <p:nvPr/>
        </p:nvSpPr>
        <p:spPr>
          <a:xfrm>
            <a:off x="274320" y="4992624"/>
            <a:ext cx="7772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β-Lactoglobulin Adsorption at Air–Water Interface  |  CHARMM36m / GROMACS 2020.4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8412480" y="4992624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10</a:t>
            </a:r>
            <a:endParaRPr lang="en-US" sz="800" dirty="0"/>
          </a:p>
        </p:txBody>
      </p:sp>
      <p:pic>
        <p:nvPicPr>
          <p:cNvPr id="13" name="Picture 1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0FB005D-8229-D91F-406F-6311933A612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7969" t="12070" r="17073" b="8083"/>
          <a:stretch>
            <a:fillRect/>
          </a:stretch>
        </p:blipFill>
        <p:spPr>
          <a:xfrm>
            <a:off x="321752" y="1005841"/>
            <a:ext cx="3838768" cy="2926076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01168"/>
            <a:ext cx="54864" cy="566928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Workflow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bulk equilibration to 1 µs production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877824"/>
            <a:ext cx="8503920" cy="18288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6" name="Shape 4"/>
          <p:cNvSpPr/>
          <p:nvPr/>
        </p:nvSpPr>
        <p:spPr>
          <a:xfrm>
            <a:off x="320040" y="1005840"/>
            <a:ext cx="1325880" cy="2194560"/>
          </a:xfrm>
          <a:prstGeom prst="rect">
            <a:avLst/>
          </a:prstGeom>
          <a:solidFill>
            <a:srgbClr val="162535"/>
          </a:solidFill>
          <a:ln w="25400">
            <a:solidFill>
              <a:srgbClr val="1B4F7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7" name="Shape 5"/>
          <p:cNvSpPr/>
          <p:nvPr/>
        </p:nvSpPr>
        <p:spPr>
          <a:xfrm>
            <a:off x="320040" y="1005840"/>
            <a:ext cx="1325880" cy="329184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8" name="Text 6"/>
          <p:cNvSpPr/>
          <p:nvPr/>
        </p:nvSpPr>
        <p:spPr>
          <a:xfrm>
            <a:off x="320040" y="1005840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20040" y="137160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Min.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20040" y="1847088"/>
            <a:ext cx="1325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Steepest descent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cubic box ~7 nm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645920" y="2103120"/>
            <a:ext cx="73152" cy="0"/>
          </a:xfrm>
          <a:prstGeom prst="line">
            <a:avLst/>
          </a:prstGeom>
          <a:noFill/>
          <a:ln w="1905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2" name="Shape 10"/>
          <p:cNvSpPr/>
          <p:nvPr/>
        </p:nvSpPr>
        <p:spPr>
          <a:xfrm>
            <a:off x="1719072" y="1005840"/>
            <a:ext cx="1325880" cy="2194560"/>
          </a:xfrm>
          <a:prstGeom prst="rect">
            <a:avLst/>
          </a:prstGeom>
          <a:solidFill>
            <a:srgbClr val="162535"/>
          </a:solidFill>
          <a:ln w="25400">
            <a:solidFill>
              <a:srgbClr val="1B4F7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13" name="Shape 11"/>
          <p:cNvSpPr/>
          <p:nvPr/>
        </p:nvSpPr>
        <p:spPr>
          <a:xfrm>
            <a:off x="1719072" y="1005840"/>
            <a:ext cx="1325880" cy="329184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4" name="Text 12"/>
          <p:cNvSpPr/>
          <p:nvPr/>
        </p:nvSpPr>
        <p:spPr>
          <a:xfrm>
            <a:off x="1719072" y="1005840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719072" y="137160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NVT 100 ps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719072" y="1847088"/>
            <a:ext cx="1325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298 K equilibration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POSRES on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044952" y="2103120"/>
            <a:ext cx="73152" cy="0"/>
          </a:xfrm>
          <a:prstGeom prst="line">
            <a:avLst/>
          </a:prstGeom>
          <a:noFill/>
          <a:ln w="1905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8" name="Shape 16"/>
          <p:cNvSpPr/>
          <p:nvPr/>
        </p:nvSpPr>
        <p:spPr>
          <a:xfrm>
            <a:off x="3118104" y="1005840"/>
            <a:ext cx="1325880" cy="2194560"/>
          </a:xfrm>
          <a:prstGeom prst="rect">
            <a:avLst/>
          </a:prstGeom>
          <a:solidFill>
            <a:srgbClr val="162535"/>
          </a:solidFill>
          <a:ln w="25400">
            <a:solidFill>
              <a:srgbClr val="1B4F7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19" name="Shape 17"/>
          <p:cNvSpPr/>
          <p:nvPr/>
        </p:nvSpPr>
        <p:spPr>
          <a:xfrm>
            <a:off x="3118104" y="1005840"/>
            <a:ext cx="1325880" cy="329184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0" name="Text 18"/>
          <p:cNvSpPr/>
          <p:nvPr/>
        </p:nvSpPr>
        <p:spPr>
          <a:xfrm>
            <a:off x="3118104" y="1005840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3118104" y="137160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NPT 10 ns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118104" y="1847088"/>
            <a:ext cx="1325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Density → ~1016 kg/m³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Parrinello-Rahman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443984" y="2103120"/>
            <a:ext cx="73152" cy="0"/>
          </a:xfrm>
          <a:prstGeom prst="line">
            <a:avLst/>
          </a:prstGeom>
          <a:noFill/>
          <a:ln w="1905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4" name="Shape 22"/>
          <p:cNvSpPr/>
          <p:nvPr/>
        </p:nvSpPr>
        <p:spPr>
          <a:xfrm>
            <a:off x="4517136" y="1005840"/>
            <a:ext cx="1325880" cy="2194560"/>
          </a:xfrm>
          <a:prstGeom prst="rect">
            <a:avLst/>
          </a:prstGeom>
          <a:solidFill>
            <a:srgbClr val="162535"/>
          </a:solidFill>
          <a:ln w="25400">
            <a:solidFill>
              <a:srgbClr val="148F77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25" name="Shape 23"/>
          <p:cNvSpPr/>
          <p:nvPr/>
        </p:nvSpPr>
        <p:spPr>
          <a:xfrm>
            <a:off x="4517136" y="1005840"/>
            <a:ext cx="1325880" cy="329184"/>
          </a:xfrm>
          <a:prstGeom prst="rect">
            <a:avLst/>
          </a:prstGeom>
          <a:solidFill>
            <a:srgbClr val="148F77"/>
          </a:solidFill>
          <a:ln w="12700">
            <a:solidFill>
              <a:srgbClr val="148F77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6" name="Text 24"/>
          <p:cNvSpPr/>
          <p:nvPr/>
        </p:nvSpPr>
        <p:spPr>
          <a:xfrm>
            <a:off x="4517136" y="1005840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4517136" y="137160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8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 Stretch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17136" y="1847088"/>
            <a:ext cx="1325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Z: 7 → 35 nm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gmx editconf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843016" y="2103120"/>
            <a:ext cx="73152" cy="0"/>
          </a:xfrm>
          <a:prstGeom prst="line">
            <a:avLst/>
          </a:prstGeom>
          <a:noFill/>
          <a:ln w="1905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30" name="Shape 28"/>
          <p:cNvSpPr/>
          <p:nvPr/>
        </p:nvSpPr>
        <p:spPr>
          <a:xfrm>
            <a:off x="5916168" y="1005840"/>
            <a:ext cx="1325880" cy="2194560"/>
          </a:xfrm>
          <a:prstGeom prst="rect">
            <a:avLst/>
          </a:prstGeom>
          <a:solidFill>
            <a:srgbClr val="162535"/>
          </a:solidFill>
          <a:ln w="25400">
            <a:solidFill>
              <a:srgbClr val="148F77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31" name="Shape 29"/>
          <p:cNvSpPr/>
          <p:nvPr/>
        </p:nvSpPr>
        <p:spPr>
          <a:xfrm>
            <a:off x="5916168" y="1005840"/>
            <a:ext cx="1325880" cy="329184"/>
          </a:xfrm>
          <a:prstGeom prst="rect">
            <a:avLst/>
          </a:prstGeom>
          <a:solidFill>
            <a:srgbClr val="148F77"/>
          </a:solidFill>
          <a:ln w="12700">
            <a:solidFill>
              <a:srgbClr val="148F77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32" name="Text 30"/>
          <p:cNvSpPr/>
          <p:nvPr/>
        </p:nvSpPr>
        <p:spPr>
          <a:xfrm>
            <a:off x="5916168" y="1005840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5916168" y="137160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8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NVT Slab 10 ns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916168" y="1847088"/>
            <a:ext cx="1325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equilibration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POSRES on, gen_vel=yes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7242048" y="2103120"/>
            <a:ext cx="73152" cy="0"/>
          </a:xfrm>
          <a:prstGeom prst="line">
            <a:avLst/>
          </a:prstGeom>
          <a:noFill/>
          <a:ln w="1905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36" name="Shape 34"/>
          <p:cNvSpPr/>
          <p:nvPr/>
        </p:nvSpPr>
        <p:spPr>
          <a:xfrm>
            <a:off x="7315200" y="1005840"/>
            <a:ext cx="1325880" cy="2194560"/>
          </a:xfrm>
          <a:prstGeom prst="rect">
            <a:avLst/>
          </a:prstGeom>
          <a:solidFill>
            <a:srgbClr val="162535"/>
          </a:solidFill>
          <a:ln w="25400">
            <a:solidFill>
              <a:srgbClr val="1ABC9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37" name="Shape 35"/>
          <p:cNvSpPr/>
          <p:nvPr/>
        </p:nvSpPr>
        <p:spPr>
          <a:xfrm>
            <a:off x="7315200" y="1005840"/>
            <a:ext cx="1325880" cy="329184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38" name="Text 36"/>
          <p:cNvSpPr/>
          <p:nvPr/>
        </p:nvSpPr>
        <p:spPr>
          <a:xfrm>
            <a:off x="7315200" y="1005840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7315200" y="137160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 ns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7315200" y="1847088"/>
            <a:ext cx="1325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POSRES off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unbiased MD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320040" y="3337560"/>
            <a:ext cx="8503920" cy="502920"/>
          </a:xfrm>
          <a:prstGeom prst="rect">
            <a:avLst/>
          </a:prstGeom>
          <a:solidFill>
            <a:srgbClr val="162535"/>
          </a:solidFill>
          <a:ln w="19050">
            <a:solidFill>
              <a:srgbClr val="1ABC9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42" name="Text 40"/>
          <p:cNvSpPr/>
          <p:nvPr/>
        </p:nvSpPr>
        <p:spPr>
          <a:xfrm>
            <a:off x="457200" y="340156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Step 6 COMPLETE — 1,000 ns finished  |  Performance: 104.7 ns/day  |  Temperature stable: 297.99 K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162535"/>
          </a:solidFill>
          <a:ln w="12700">
            <a:solidFill>
              <a:srgbClr val="162535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44" name="Text 42"/>
          <p:cNvSpPr/>
          <p:nvPr/>
        </p:nvSpPr>
        <p:spPr>
          <a:xfrm>
            <a:off x="274320" y="4992624"/>
            <a:ext cx="7772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β-Lactoglobulin Adsorption at Air–Water Interface  |  CHARMM36m / GROMACS 2020.4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8412480" y="4992624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10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01168"/>
            <a:ext cx="54864" cy="566928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Diffusion Kinetics — Z-position Tracking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 ns | Protein CoM vs. interface distance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877824"/>
            <a:ext cx="8503920" cy="18288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7" name="Text 5"/>
          <p:cNvSpPr/>
          <p:nvPr/>
        </p:nvSpPr>
        <p:spPr>
          <a:xfrm>
            <a:off x="457200" y="1097280"/>
            <a:ext cx="50292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 Plot: z_position_track.png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(Z-position + distance to interface, 1,000 ns)]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806440" y="1005840"/>
            <a:ext cx="3017520" cy="868680"/>
          </a:xfrm>
          <a:prstGeom prst="rect">
            <a:avLst/>
          </a:prstGeom>
          <a:solidFill>
            <a:srgbClr val="162535"/>
          </a:solidFill>
          <a:ln w="19050">
            <a:solidFill>
              <a:srgbClr val="F39C1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9" name="Text 7"/>
          <p:cNvSpPr/>
          <p:nvPr/>
        </p:nvSpPr>
        <p:spPr>
          <a:xfrm>
            <a:off x="5806440" y="1051560"/>
            <a:ext cx="3017520" cy="4777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3.303 nm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5806440" y="1483614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to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(range)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813997" y="2019237"/>
            <a:ext cx="3017520" cy="868680"/>
          </a:xfrm>
          <a:prstGeom prst="rect">
            <a:avLst/>
          </a:prstGeom>
          <a:solidFill>
            <a:srgbClr val="162535"/>
          </a:solidFill>
          <a:ln w="19050">
            <a:solidFill>
              <a:srgbClr val="E74C3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12" name="Text 10"/>
          <p:cNvSpPr/>
          <p:nvPr/>
        </p:nvSpPr>
        <p:spPr>
          <a:xfrm>
            <a:off x="5806440" y="2057400"/>
            <a:ext cx="3017520" cy="4777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&gt;1 µs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806440" y="2489454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Adsorption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timescale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806440" y="3017520"/>
            <a:ext cx="3017520" cy="868680"/>
          </a:xfrm>
          <a:prstGeom prst="rect">
            <a:avLst/>
          </a:prstGeom>
          <a:solidFill>
            <a:srgbClr val="162535"/>
          </a:solidFill>
          <a:ln w="19050">
            <a:solidFill>
              <a:srgbClr val="E74C3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15" name="Text 13"/>
          <p:cNvSpPr/>
          <p:nvPr/>
        </p:nvSpPr>
        <p:spPr>
          <a:xfrm>
            <a:off x="5806440" y="3063240"/>
            <a:ext cx="3017520" cy="4777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YET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5806440" y="3495294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Adsorption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20040" y="4005072"/>
            <a:ext cx="8503920" cy="640080"/>
          </a:xfrm>
          <a:prstGeom prst="rect">
            <a:avLst/>
          </a:prstGeom>
          <a:solidFill>
            <a:srgbClr val="162535"/>
          </a:solidFill>
          <a:ln w="12700">
            <a:solidFill>
              <a:srgbClr val="148F77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8" name="Text 16"/>
          <p:cNvSpPr/>
          <p:nvPr/>
        </p:nvSpPr>
        <p:spPr>
          <a:xfrm>
            <a:off x="457200" y="4059936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 BLG spontaneous adsorption from bulk center requires &gt;1 µs — first atomistic quantification of this timescale.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162535"/>
          </a:solidFill>
          <a:ln w="12700">
            <a:solidFill>
              <a:srgbClr val="162535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0" name="Text 18"/>
          <p:cNvSpPr/>
          <p:nvPr/>
        </p:nvSpPr>
        <p:spPr>
          <a:xfrm>
            <a:off x="274320" y="4992624"/>
            <a:ext cx="7772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β-Lactoglobulin Adsorption at Air–Water Interface  |  CHARMM36m / GROMACS 2020.4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8412480" y="4992624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10</a:t>
            </a:r>
            <a:endParaRPr lang="en-US" sz="800" dirty="0"/>
          </a:p>
        </p:txBody>
      </p:sp>
      <p:pic>
        <p:nvPicPr>
          <p:cNvPr id="23" name="Picture 22" descr="A screenshot of a graph&#10;&#10;AI-generated content may be incorrect.">
            <a:extLst>
              <a:ext uri="{FF2B5EF4-FFF2-40B4-BE49-F238E27FC236}">
                <a16:creationId xmlns:a16="http://schemas.microsoft.com/office/drawing/2014/main" id="{8C6FC163-938A-0355-DC5E-13EFCD0B44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" y="999938"/>
            <a:ext cx="4160872" cy="2896810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01168"/>
            <a:ext cx="54864" cy="566928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Analysis — RMSD &amp; Per-residue RMSF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Stability in bulk + identifying flexible regions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877824"/>
            <a:ext cx="8503920" cy="18288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7" name="Text 5"/>
          <p:cNvSpPr/>
          <p:nvPr/>
        </p:nvSpPr>
        <p:spPr>
          <a:xfrm>
            <a:off x="457200" y="1097280"/>
            <a:ext cx="3840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 Plot: rmsd_analysis.png</a:t>
            </a:r>
            <a:endParaRPr lang="en-US" sz="900" dirty="0"/>
          </a:p>
          <a:p>
            <a:pPr marL="0" indent="0" algn="ctr">
              <a:buNone/>
            </a:pPr>
            <a:r>
              <a:rPr lang="en-US" sz="9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(Backbone, Beta-sheet, Helix, Hydrophobic patch)]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846320" y="1097280"/>
            <a:ext cx="3840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 Plot: advanced_analysis.png — Panel: Per-residue RMSF</a:t>
            </a:r>
            <a:endParaRPr lang="en-US" sz="900" dirty="0"/>
          </a:p>
          <a:p>
            <a:pPr marL="0" indent="0" algn="ctr">
              <a:buNone/>
            </a:pPr>
            <a:r>
              <a:rPr lang="en-US" sz="9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(mean 0.141 nm, flexible loops highlighted)]</a:t>
            </a:r>
            <a:endParaRPr lang="en-US" sz="9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3309449"/>
              </p:ext>
            </p:extLst>
          </p:nvPr>
        </p:nvGraphicFramePr>
        <p:xfrm>
          <a:off x="300884" y="3376160"/>
          <a:ext cx="8503920" cy="1508760"/>
        </p:xfrm>
        <a:graphic>
          <a:graphicData uri="http://schemas.openxmlformats.org/drawingml/2006/table">
            <a:tbl>
              <a:tblPr/>
              <a:tblGrid>
                <a:gridCol w="2834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 RMSD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RMSF note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Backbone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0.229 nm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Stable early phase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BC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Alpha-helix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BC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0.101 nm ✓ most stable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BC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RMSF ~0.05–0.08 nm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Beta-sheet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0.260 nm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39C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Disrupted after 600 ns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39C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Loop BC (res. 30–35)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39C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RMSF ~0.53 nm — most flexible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162535"/>
          </a:solidFill>
          <a:ln w="12700">
            <a:solidFill>
              <a:srgbClr val="162535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2" name="Text 9"/>
          <p:cNvSpPr/>
          <p:nvPr/>
        </p:nvSpPr>
        <p:spPr>
          <a:xfrm>
            <a:off x="274320" y="4992624"/>
            <a:ext cx="7772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β-Lactoglobulin Adsorption at Air–Water Interface  |  CHARMM36m / GROMACS 2020.4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8412480" y="4992624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10</a:t>
            </a:r>
            <a:endParaRPr lang="en-US" sz="800" dirty="0"/>
          </a:p>
        </p:txBody>
      </p:sp>
      <p:pic>
        <p:nvPicPr>
          <p:cNvPr id="15" name="Picture 14" descr="A group of graphs showing different types of data&#10;&#10;AI-generated content may be incorrect.">
            <a:extLst>
              <a:ext uri="{FF2B5EF4-FFF2-40B4-BE49-F238E27FC236}">
                <a16:creationId xmlns:a16="http://schemas.microsoft.com/office/drawing/2014/main" id="{61EE9783-2EDB-1BA3-5977-0D58179551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884" y="978408"/>
            <a:ext cx="3501821" cy="2315456"/>
          </a:xfrm>
          <a:prstGeom prst="rect">
            <a:avLst/>
          </a:prstGeom>
        </p:spPr>
      </p:pic>
      <p:pic>
        <p:nvPicPr>
          <p:cNvPr id="17" name="Picture 16" descr="A screenshot of a graph&#10;&#10;AI-generated content may be incorrect.">
            <a:extLst>
              <a:ext uri="{FF2B5EF4-FFF2-40B4-BE49-F238E27FC236}">
                <a16:creationId xmlns:a16="http://schemas.microsoft.com/office/drawing/2014/main" id="{5A56C2D2-636A-7346-D6FE-974FF64496F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60889"/>
          <a:stretch>
            <a:fillRect/>
          </a:stretch>
        </p:blipFill>
        <p:spPr>
          <a:xfrm>
            <a:off x="3920709" y="1293876"/>
            <a:ext cx="4884095" cy="174193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01168"/>
            <a:ext cx="54864" cy="566928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Hydrophobic Driving Force — SASA &amp; Orientation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Increasing hydrophobic exposure over 1,000 ns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877824"/>
            <a:ext cx="8503920" cy="18288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7" name="Text 5"/>
          <p:cNvSpPr/>
          <p:nvPr/>
        </p:nvSpPr>
        <p:spPr>
          <a:xfrm>
            <a:off x="457200" y="1097280"/>
            <a:ext cx="38404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 Plot: sasa_analysis.png</a:t>
            </a:r>
            <a:endParaRPr lang="en-US" sz="900" dirty="0"/>
          </a:p>
          <a:p>
            <a:pPr marL="0" indent="0" algn="ctr">
              <a:buNone/>
            </a:pPr>
            <a:r>
              <a:rPr lang="en-US" sz="9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(Total / Hydrophobic / Hydrophilic / Calyx SASA vs time)]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846320" y="1097280"/>
            <a:ext cx="38404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 Plot: orientation_analysis.png</a:t>
            </a:r>
            <a:endParaRPr lang="en-US" sz="900" dirty="0"/>
          </a:p>
          <a:p>
            <a:pPr marL="0" indent="0" algn="ctr">
              <a:buNone/>
            </a:pPr>
            <a:r>
              <a:rPr lang="en-US" sz="9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(Hydrophobic patch angle vs Z-axis, 1,000 ns)]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0040" y="3950210"/>
            <a:ext cx="2011680" cy="822960"/>
          </a:xfrm>
          <a:prstGeom prst="rect">
            <a:avLst/>
          </a:prstGeom>
          <a:solidFill>
            <a:srgbClr val="162535"/>
          </a:solidFill>
          <a:ln w="19050">
            <a:solidFill>
              <a:srgbClr val="1ABC9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11" name="Text 9"/>
          <p:cNvSpPr/>
          <p:nvPr/>
        </p:nvSpPr>
        <p:spPr>
          <a:xfrm>
            <a:off x="320040" y="3995930"/>
            <a:ext cx="201168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+20%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20040" y="4402838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Hydrophobic SASA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0→1,000 ns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514600" y="3950210"/>
            <a:ext cx="2011680" cy="822960"/>
          </a:xfrm>
          <a:prstGeom prst="rect">
            <a:avLst/>
          </a:prstGeom>
          <a:solidFill>
            <a:srgbClr val="162535"/>
          </a:solidFill>
          <a:ln w="19050">
            <a:solidFill>
              <a:srgbClr val="F39C1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14" name="Text 12"/>
          <p:cNvSpPr/>
          <p:nvPr/>
        </p:nvSpPr>
        <p:spPr>
          <a:xfrm>
            <a:off x="2514600" y="3995930"/>
            <a:ext cx="201168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nm²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2514600" y="4402838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hydrophobic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exposure (spike)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709160" y="3950210"/>
            <a:ext cx="2011680" cy="822960"/>
          </a:xfrm>
          <a:prstGeom prst="rect">
            <a:avLst/>
          </a:prstGeom>
          <a:solidFill>
            <a:srgbClr val="162535"/>
          </a:solidFill>
          <a:ln w="19050">
            <a:solidFill>
              <a:srgbClr val="1B4F7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17" name="Text 15"/>
          <p:cNvSpPr/>
          <p:nvPr/>
        </p:nvSpPr>
        <p:spPr>
          <a:xfrm>
            <a:off x="4709160" y="3995930"/>
            <a:ext cx="201168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53.5°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4709160" y="4402838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patch angle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(random tumbling)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903720" y="3950210"/>
            <a:ext cx="2011680" cy="822960"/>
          </a:xfrm>
          <a:prstGeom prst="rect">
            <a:avLst/>
          </a:prstGeom>
          <a:solidFill>
            <a:srgbClr val="162535"/>
          </a:solidFill>
          <a:ln w="19050">
            <a:solidFill>
              <a:srgbClr val="1ABC9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20" name="Text 18"/>
          <p:cNvSpPr/>
          <p:nvPr/>
        </p:nvSpPr>
        <p:spPr>
          <a:xfrm>
            <a:off x="6903720" y="3995930"/>
            <a:ext cx="201168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&lt;20°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6903720" y="4402838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Transient favorable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orientation events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162535"/>
          </a:solidFill>
          <a:ln w="12700">
            <a:solidFill>
              <a:srgbClr val="162535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3" name="Text 21"/>
          <p:cNvSpPr/>
          <p:nvPr/>
        </p:nvSpPr>
        <p:spPr>
          <a:xfrm>
            <a:off x="274320" y="4992624"/>
            <a:ext cx="7772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β-Lactoglobulin Adsorption at Air–Water Interface  |  CHARMM36m / GROMACS 2020.4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8412480" y="4992624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10</a:t>
            </a:r>
            <a:endParaRPr lang="en-US" sz="800" dirty="0"/>
          </a:p>
        </p:txBody>
      </p:sp>
      <p:pic>
        <p:nvPicPr>
          <p:cNvPr id="26" name="Picture 25" descr="A group of graphs showing different colors&#10;&#10;AI-generated content may be incorrect.">
            <a:extLst>
              <a:ext uri="{FF2B5EF4-FFF2-40B4-BE49-F238E27FC236}">
                <a16:creationId xmlns:a16="http://schemas.microsoft.com/office/drawing/2014/main" id="{47FC5F6B-3AD1-FBC4-F4AD-26ADC71205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6161" y="1005182"/>
            <a:ext cx="4249565" cy="2809875"/>
          </a:xfrm>
          <a:prstGeom prst="rect">
            <a:avLst/>
          </a:prstGeom>
        </p:spPr>
      </p:pic>
      <p:pic>
        <p:nvPicPr>
          <p:cNvPr id="28" name="Picture 27" descr="A screenshot of a graph&#10;&#10;AI-generated content may be incorrect.">
            <a:extLst>
              <a:ext uri="{FF2B5EF4-FFF2-40B4-BE49-F238E27FC236}">
                <a16:creationId xmlns:a16="http://schemas.microsoft.com/office/drawing/2014/main" id="{B55D368B-69C2-311D-645B-3B6642BE77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85955" y="1003602"/>
            <a:ext cx="3403132" cy="281145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01168"/>
            <a:ext cx="54864" cy="566928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Event: Partial Unfolding at 600–800 ns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Pre-adsorption conformational activation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877824"/>
            <a:ext cx="8503920" cy="18288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7" name="Text 5"/>
          <p:cNvSpPr/>
          <p:nvPr/>
        </p:nvSpPr>
        <p:spPr>
          <a:xfrm>
            <a:off x="457200" y="1097280"/>
            <a:ext cx="3840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 Plot: advanced_analysis.png — Panel: Radius of Gyration</a:t>
            </a:r>
            <a:endParaRPr lang="en-US" sz="900" dirty="0"/>
          </a:p>
          <a:p>
            <a:pPr marL="0" indent="0" algn="ctr">
              <a:buNone/>
            </a:pPr>
            <a:r>
              <a:rPr lang="en-US" sz="9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(Rg increases 1.50 → 1.55 nm at 600–800 ns)]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846320" y="1097280"/>
            <a:ext cx="3840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 Plot: advanced_analysis.png — Panel: RMSD vs Z-position</a:t>
            </a:r>
            <a:endParaRPr lang="en-US" sz="900" dirty="0"/>
          </a:p>
          <a:p>
            <a:pPr marL="0" indent="0" algn="ctr">
              <a:buNone/>
            </a:pPr>
            <a:r>
              <a:rPr lang="en-US" sz="9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(RMSD &amp; Z increase together at 600–800 ns)]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0040" y="2944368"/>
            <a:ext cx="2057400" cy="1508760"/>
          </a:xfrm>
          <a:prstGeom prst="rect">
            <a:avLst/>
          </a:prstGeom>
          <a:solidFill>
            <a:srgbClr val="162535"/>
          </a:solidFill>
          <a:ln w="25400">
            <a:solidFill>
              <a:srgbClr val="1B4F7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11" name="Shape 9"/>
          <p:cNvSpPr/>
          <p:nvPr/>
        </p:nvSpPr>
        <p:spPr>
          <a:xfrm>
            <a:off x="320040" y="2944368"/>
            <a:ext cx="2057400" cy="27432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2" name="Text 10"/>
          <p:cNvSpPr/>
          <p:nvPr/>
        </p:nvSpPr>
        <p:spPr>
          <a:xfrm>
            <a:off x="320040" y="2944368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0–400 ns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20040" y="324612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Bulk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20040" y="3547872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folded state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RMSD ~0.15 nm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Rg ~1.50 nm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377440" y="3703320"/>
            <a:ext cx="137160" cy="0"/>
          </a:xfrm>
          <a:prstGeom prst="line">
            <a:avLst/>
          </a:prstGeom>
          <a:noFill/>
          <a:ln w="254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6" name="Shape 14"/>
          <p:cNvSpPr/>
          <p:nvPr/>
        </p:nvSpPr>
        <p:spPr>
          <a:xfrm>
            <a:off x="2514600" y="2944368"/>
            <a:ext cx="2057400" cy="1508760"/>
          </a:xfrm>
          <a:prstGeom prst="rect">
            <a:avLst/>
          </a:prstGeom>
          <a:solidFill>
            <a:srgbClr val="162535"/>
          </a:solidFill>
          <a:ln w="25400">
            <a:solidFill>
              <a:srgbClr val="F39C1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17" name="Shape 15"/>
          <p:cNvSpPr/>
          <p:nvPr/>
        </p:nvSpPr>
        <p:spPr>
          <a:xfrm>
            <a:off x="2514600" y="2944368"/>
            <a:ext cx="2057400" cy="27432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8" name="Text 16"/>
          <p:cNvSpPr/>
          <p:nvPr/>
        </p:nvSpPr>
        <p:spPr>
          <a:xfrm>
            <a:off x="2514600" y="2944368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400–600 ns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514600" y="324612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Pre-Activation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514600" y="3547872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Conformational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fluctuations increase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SASA spikes more frequent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572000" y="3703320"/>
            <a:ext cx="137160" cy="0"/>
          </a:xfrm>
          <a:prstGeom prst="line">
            <a:avLst/>
          </a:prstGeom>
          <a:noFill/>
          <a:ln w="254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2" name="Shape 20"/>
          <p:cNvSpPr/>
          <p:nvPr/>
        </p:nvSpPr>
        <p:spPr>
          <a:xfrm>
            <a:off x="4709160" y="2944368"/>
            <a:ext cx="2057400" cy="1508760"/>
          </a:xfrm>
          <a:prstGeom prst="rect">
            <a:avLst/>
          </a:prstGeom>
          <a:solidFill>
            <a:srgbClr val="162535"/>
          </a:solidFill>
          <a:ln w="25400">
            <a:solidFill>
              <a:srgbClr val="E74C3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23" name="Shape 21"/>
          <p:cNvSpPr/>
          <p:nvPr/>
        </p:nvSpPr>
        <p:spPr>
          <a:xfrm>
            <a:off x="4709160" y="2944368"/>
            <a:ext cx="2057400" cy="27432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4" name="Text 22"/>
          <p:cNvSpPr/>
          <p:nvPr/>
        </p:nvSpPr>
        <p:spPr>
          <a:xfrm>
            <a:off x="4709160" y="2944368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600–800 ns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709160" y="324612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Unfolding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709160" y="3547872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Rg → 1.55 nm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RMSD peaks 0.4 nm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toward interface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766560" y="3703320"/>
            <a:ext cx="137160" cy="0"/>
          </a:xfrm>
          <a:prstGeom prst="line">
            <a:avLst/>
          </a:prstGeom>
          <a:noFill/>
          <a:ln w="254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8" name="Shape 26"/>
          <p:cNvSpPr/>
          <p:nvPr/>
        </p:nvSpPr>
        <p:spPr>
          <a:xfrm>
            <a:off x="6903720" y="2944368"/>
            <a:ext cx="2057400" cy="1508760"/>
          </a:xfrm>
          <a:prstGeom prst="rect">
            <a:avLst/>
          </a:prstGeom>
          <a:solidFill>
            <a:srgbClr val="162535"/>
          </a:solidFill>
          <a:ln w="25400">
            <a:solidFill>
              <a:srgbClr val="1ABC9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29" name="Shape 27"/>
          <p:cNvSpPr/>
          <p:nvPr/>
        </p:nvSpPr>
        <p:spPr>
          <a:xfrm>
            <a:off x="6903720" y="2944368"/>
            <a:ext cx="2057400" cy="27432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30" name="Text 28"/>
          <p:cNvSpPr/>
          <p:nvPr/>
        </p:nvSpPr>
        <p:spPr>
          <a:xfrm>
            <a:off x="6903720" y="2944368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800–1000 ns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6903720" y="324612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Near-Interface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903720" y="3547872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Partially unfolded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persists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Z-pos distribution shifts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162535"/>
          </a:solidFill>
          <a:ln w="12700">
            <a:solidFill>
              <a:srgbClr val="162535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34" name="Text 32"/>
          <p:cNvSpPr/>
          <p:nvPr/>
        </p:nvSpPr>
        <p:spPr>
          <a:xfrm>
            <a:off x="274320" y="4992624"/>
            <a:ext cx="7772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β-Lactoglobulin Adsorption at Air–Water Interface  |  CHARMM36m / GROMACS 2020.4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8412480" y="4992624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10</a:t>
            </a:r>
            <a:endParaRPr lang="en-US" sz="800" dirty="0"/>
          </a:p>
        </p:txBody>
      </p:sp>
      <p:pic>
        <p:nvPicPr>
          <p:cNvPr id="37" name="Picture 36" descr="A screenshot of a graph&#10;&#10;AI-generated content may be incorrect.">
            <a:extLst>
              <a:ext uri="{FF2B5EF4-FFF2-40B4-BE49-F238E27FC236}">
                <a16:creationId xmlns:a16="http://schemas.microsoft.com/office/drawing/2014/main" id="{CFEDDDAD-FE01-C07B-5EE8-BC797FF0BE7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6889" r="48515" b="29955"/>
          <a:stretch>
            <a:fillRect/>
          </a:stretch>
        </p:blipFill>
        <p:spPr>
          <a:xfrm>
            <a:off x="878452" y="993535"/>
            <a:ext cx="3135136" cy="1841105"/>
          </a:xfrm>
          <a:prstGeom prst="rect">
            <a:avLst/>
          </a:prstGeom>
        </p:spPr>
      </p:pic>
      <p:pic>
        <p:nvPicPr>
          <p:cNvPr id="39" name="Picture 38" descr="A screenshot of a graph&#10;&#10;AI-generated content may be incorrect.">
            <a:extLst>
              <a:ext uri="{FF2B5EF4-FFF2-40B4-BE49-F238E27FC236}">
                <a16:creationId xmlns:a16="http://schemas.microsoft.com/office/drawing/2014/main" id="{48003951-E662-92D3-A801-398876DCA89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4417" t="36889" b="29422"/>
          <a:stretch>
            <a:fillRect/>
          </a:stretch>
        </p:blipFill>
        <p:spPr>
          <a:xfrm>
            <a:off x="5180714" y="1011022"/>
            <a:ext cx="3299473" cy="182361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01168"/>
            <a:ext cx="54864" cy="566928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B — Near-Interface Simulation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Reducing diffusion barrier while maintaining spontaneous adsorption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877824"/>
            <a:ext cx="8503920" cy="18288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6" name="Shape 4"/>
          <p:cNvSpPr/>
          <p:nvPr/>
        </p:nvSpPr>
        <p:spPr>
          <a:xfrm>
            <a:off x="320040" y="1005840"/>
            <a:ext cx="4114800" cy="2194560"/>
          </a:xfrm>
          <a:prstGeom prst="rect">
            <a:avLst/>
          </a:prstGeom>
          <a:solidFill>
            <a:srgbClr val="162535"/>
          </a:solidFill>
          <a:ln w="12700">
            <a:solidFill>
              <a:srgbClr val="1B4F7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3840480" cy="347472"/>
          </a:xfrm>
          <a:prstGeom prst="rect">
            <a:avLst/>
          </a:prstGeom>
          <a:solidFill>
            <a:srgbClr val="0D1B2A"/>
          </a:solidFill>
          <a:ln w="635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8" name="Text 6"/>
          <p:cNvSpPr/>
          <p:nvPr/>
        </p:nvSpPr>
        <p:spPr>
          <a:xfrm>
            <a:off x="457200" y="109728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VACUUM  (~14 nm)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57200" y="1463040"/>
            <a:ext cx="3840480" cy="1097280"/>
          </a:xfrm>
          <a:prstGeom prst="rect">
            <a:avLst/>
          </a:prstGeom>
          <a:solidFill>
            <a:srgbClr val="1B4F72"/>
          </a:solidFill>
          <a:ln w="635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0" name="Text 8"/>
          <p:cNvSpPr/>
          <p:nvPr/>
        </p:nvSpPr>
        <p:spPr>
          <a:xfrm>
            <a:off x="457200" y="1463040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SLAB  (~7 nm)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57200" y="2578608"/>
            <a:ext cx="3840480" cy="347472"/>
          </a:xfrm>
          <a:prstGeom prst="rect">
            <a:avLst/>
          </a:prstGeom>
          <a:solidFill>
            <a:srgbClr val="0D1B2A"/>
          </a:solidFill>
          <a:ln w="635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2" name="Text 10"/>
          <p:cNvSpPr/>
          <p:nvPr/>
        </p:nvSpPr>
        <p:spPr>
          <a:xfrm>
            <a:off x="457200" y="257860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VACUUM  (~14 nm)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1463041" y="1943100"/>
            <a:ext cx="502920" cy="502920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4" name="Text 12"/>
          <p:cNvSpPr/>
          <p:nvPr/>
        </p:nvSpPr>
        <p:spPr>
          <a:xfrm>
            <a:off x="2176272" y="20116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Protein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 flipH="1">
            <a:off x="2147853" y="1481328"/>
            <a:ext cx="987" cy="461772"/>
          </a:xfrm>
          <a:prstGeom prst="line">
            <a:avLst/>
          </a:prstGeom>
          <a:noFill/>
          <a:ln w="19050">
            <a:solidFill>
              <a:srgbClr val="1ABC9C"/>
            </a:solidFill>
            <a:prstDash val="dash"/>
          </a:ln>
        </p:spPr>
        <p:txBody>
          <a:bodyPr/>
          <a:lstStyle/>
          <a:p>
            <a:endParaRPr lang="en-TH"/>
          </a:p>
        </p:txBody>
      </p:sp>
      <p:sp>
        <p:nvSpPr>
          <p:cNvPr id="16" name="Text 14"/>
          <p:cNvSpPr/>
          <p:nvPr/>
        </p:nvSpPr>
        <p:spPr>
          <a:xfrm>
            <a:off x="2194560" y="14813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2.18 nm</a:t>
            </a:r>
            <a:endParaRPr lang="en-US" sz="8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1005840"/>
          <a:ext cx="4114800" cy="2194563"/>
        </p:xfrm>
        <a:graphic>
          <a:graphicData uri="http://schemas.openxmlformats.org/drawingml/2006/table">
            <a:tbl>
              <a:tblPr/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350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350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ABC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Starting file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slab_planb_v2.gro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350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ABC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Protein CoM Z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18.700 nm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350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ABC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Distance to interface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2.183 nm (measured)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350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ABC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Still spontaneous?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— no orientation bias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350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ABC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Replicas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× 500 ns (seed: 1234 / 5678 / 9999)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350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ABC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 adsorption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100–300 ns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4F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8" name="Shape 15"/>
          <p:cNvSpPr/>
          <p:nvPr/>
        </p:nvSpPr>
        <p:spPr>
          <a:xfrm>
            <a:off x="320040" y="3319272"/>
            <a:ext cx="1920240" cy="640080"/>
          </a:xfrm>
          <a:prstGeom prst="rect">
            <a:avLst/>
          </a:prstGeom>
          <a:solidFill>
            <a:srgbClr val="162535"/>
          </a:solidFill>
          <a:ln w="19050">
            <a:solidFill>
              <a:srgbClr val="1ABC9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19" name="Text 16"/>
          <p:cNvSpPr/>
          <p:nvPr/>
        </p:nvSpPr>
        <p:spPr>
          <a:xfrm>
            <a:off x="320040" y="3319272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slab_planb_v2.gro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2240280" y="3639312"/>
            <a:ext cx="274320" cy="0"/>
          </a:xfrm>
          <a:prstGeom prst="line">
            <a:avLst/>
          </a:prstGeom>
          <a:noFill/>
          <a:ln w="1905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1" name="Shape 18"/>
          <p:cNvSpPr/>
          <p:nvPr/>
        </p:nvSpPr>
        <p:spPr>
          <a:xfrm>
            <a:off x="2514600" y="3319272"/>
            <a:ext cx="1920240" cy="640080"/>
          </a:xfrm>
          <a:prstGeom prst="rect">
            <a:avLst/>
          </a:prstGeom>
          <a:solidFill>
            <a:srgbClr val="162535"/>
          </a:solidFill>
          <a:ln w="19050">
            <a:solidFill>
              <a:srgbClr val="1ABC9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22" name="Text 19"/>
          <p:cNvSpPr/>
          <p:nvPr/>
        </p:nvSpPr>
        <p:spPr>
          <a:xfrm>
            <a:off x="2514600" y="3319272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Min.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4434840" y="3639312"/>
            <a:ext cx="274320" cy="0"/>
          </a:xfrm>
          <a:prstGeom prst="line">
            <a:avLst/>
          </a:prstGeom>
          <a:noFill/>
          <a:ln w="1905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4" name="Shape 21"/>
          <p:cNvSpPr/>
          <p:nvPr/>
        </p:nvSpPr>
        <p:spPr>
          <a:xfrm>
            <a:off x="4709160" y="3319272"/>
            <a:ext cx="1920240" cy="640080"/>
          </a:xfrm>
          <a:prstGeom prst="rect">
            <a:avLst/>
          </a:prstGeom>
          <a:solidFill>
            <a:srgbClr val="162535"/>
          </a:solidFill>
          <a:ln w="19050">
            <a:solidFill>
              <a:srgbClr val="1ABC9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25" name="Text 22"/>
          <p:cNvSpPr/>
          <p:nvPr/>
        </p:nvSpPr>
        <p:spPr>
          <a:xfrm>
            <a:off x="4709160" y="3319272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NVT Slab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ns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6629400" y="3639312"/>
            <a:ext cx="274320" cy="0"/>
          </a:xfrm>
          <a:prstGeom prst="line">
            <a:avLst/>
          </a:prstGeom>
          <a:noFill/>
          <a:ln w="1905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7" name="Shape 24"/>
          <p:cNvSpPr/>
          <p:nvPr/>
        </p:nvSpPr>
        <p:spPr>
          <a:xfrm>
            <a:off x="6903720" y="3319272"/>
            <a:ext cx="1920240" cy="640080"/>
          </a:xfrm>
          <a:prstGeom prst="rect">
            <a:avLst/>
          </a:prstGeom>
          <a:solidFill>
            <a:srgbClr val="162535"/>
          </a:solidFill>
          <a:ln w="19050">
            <a:solidFill>
              <a:srgbClr val="1ABC9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28" name="Text 25"/>
          <p:cNvSpPr/>
          <p:nvPr/>
        </p:nvSpPr>
        <p:spPr>
          <a:xfrm>
            <a:off x="6903720" y="3319272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ns × 3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162535"/>
          </a:solidFill>
          <a:ln w="12700">
            <a:solidFill>
              <a:srgbClr val="162535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30" name="Text 27"/>
          <p:cNvSpPr/>
          <p:nvPr/>
        </p:nvSpPr>
        <p:spPr>
          <a:xfrm>
            <a:off x="274320" y="4992624"/>
            <a:ext cx="7772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β-Lactoglobulin Adsorption at Air–Water Interface  |  CHARMM36m / GROMACS 2020.4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8412480" y="4992624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10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01168"/>
            <a:ext cx="54864" cy="566928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&amp; Research Roadmap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found — what comes next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877824"/>
            <a:ext cx="8503920" cy="18288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6" name="Shape 4"/>
          <p:cNvSpPr/>
          <p:nvPr/>
        </p:nvSpPr>
        <p:spPr>
          <a:xfrm>
            <a:off x="320040" y="1005840"/>
            <a:ext cx="4114800" cy="3936492"/>
          </a:xfrm>
          <a:prstGeom prst="rect">
            <a:avLst/>
          </a:prstGeom>
          <a:solidFill>
            <a:srgbClr val="162535"/>
          </a:solidFill>
          <a:ln w="19050">
            <a:solidFill>
              <a:srgbClr val="1ABC9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7" name="Text 5"/>
          <p:cNvSpPr/>
          <p:nvPr/>
        </p:nvSpPr>
        <p:spPr>
          <a:xfrm>
            <a:off x="457200" y="107899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 (1,000 ns)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389888"/>
            <a:ext cx="38404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Spontaneous adsorption from bulk requires &gt;1 µs
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→ first atomistic timescale quantification
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Partial unfolding event at 600–800 ns
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→ prerequisite for adsorption
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Unfolding correlates with interface approach
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→ unfolding drives adsorption tendency
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Loop BC (res. 30–35) most flexible
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→ predicted primary contact point
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Hydrophobic SASA +20% over 1,000 ns
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→ progressive pre-activation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09160" y="1005840"/>
            <a:ext cx="4114800" cy="713232"/>
          </a:xfrm>
          <a:prstGeom prst="rect">
            <a:avLst/>
          </a:prstGeom>
          <a:solidFill>
            <a:srgbClr val="162535"/>
          </a:solidFill>
          <a:ln w="19050">
            <a:solidFill>
              <a:srgbClr val="1ABC9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10" name="Shape 8"/>
          <p:cNvSpPr/>
          <p:nvPr/>
        </p:nvSpPr>
        <p:spPr>
          <a:xfrm>
            <a:off x="4709160" y="1005840"/>
            <a:ext cx="54864" cy="713232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1" name="Text 9"/>
          <p:cNvSpPr/>
          <p:nvPr/>
        </p:nvSpPr>
        <p:spPr>
          <a:xfrm>
            <a:off x="4828032" y="1042416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132320" y="1042416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828032" y="1243584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BLG Adsorption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828032" y="146304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 ns ✓ + Plan B (3 replicas)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709160" y="1810512"/>
            <a:ext cx="4114800" cy="713232"/>
          </a:xfrm>
          <a:prstGeom prst="rect">
            <a:avLst/>
          </a:prstGeom>
          <a:solidFill>
            <a:srgbClr val="162535"/>
          </a:solidFill>
          <a:ln w="19050">
            <a:solidFill>
              <a:srgbClr val="1B4F7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16" name="Shape 14"/>
          <p:cNvSpPr/>
          <p:nvPr/>
        </p:nvSpPr>
        <p:spPr>
          <a:xfrm>
            <a:off x="4709160" y="1810512"/>
            <a:ext cx="54864" cy="713232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7" name="Text 15"/>
          <p:cNvSpPr/>
          <p:nvPr/>
        </p:nvSpPr>
        <p:spPr>
          <a:xfrm>
            <a:off x="4828032" y="184708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132320" y="1847088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UPCOMING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828032" y="2048256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Casein Adsorption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28032" y="226771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αs1-Casein (IDP) vs BLG comparison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709160" y="2615184"/>
            <a:ext cx="4114800" cy="713232"/>
          </a:xfrm>
          <a:prstGeom prst="rect">
            <a:avLst/>
          </a:prstGeom>
          <a:solidFill>
            <a:srgbClr val="162535"/>
          </a:solidFill>
          <a:ln w="19050">
            <a:solidFill>
              <a:srgbClr val="F39C1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22" name="Shape 20"/>
          <p:cNvSpPr/>
          <p:nvPr/>
        </p:nvSpPr>
        <p:spPr>
          <a:xfrm>
            <a:off x="4709160" y="2615184"/>
            <a:ext cx="54864" cy="713232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3" name="Text 21"/>
          <p:cNvSpPr/>
          <p:nvPr/>
        </p:nvSpPr>
        <p:spPr>
          <a:xfrm>
            <a:off x="4828032" y="265176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132320" y="265176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828032" y="2852928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Calcium Bridge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828032" y="3072384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BLG + Casein + Ca²⁺ at interface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709160" y="3419856"/>
            <a:ext cx="4114800" cy="713232"/>
          </a:xfrm>
          <a:prstGeom prst="rect">
            <a:avLst/>
          </a:prstGeom>
          <a:solidFill>
            <a:srgbClr val="162535"/>
          </a:solidFill>
          <a:ln w="19050">
            <a:solidFill>
              <a:srgbClr val="7F8C8D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28" name="Shape 26"/>
          <p:cNvSpPr/>
          <p:nvPr/>
        </p:nvSpPr>
        <p:spPr>
          <a:xfrm>
            <a:off x="4709160" y="3419856"/>
            <a:ext cx="54864" cy="713232"/>
          </a:xfrm>
          <a:prstGeom prst="rect">
            <a:avLst/>
          </a:prstGeom>
          <a:solidFill>
            <a:srgbClr val="7F8C8D"/>
          </a:solidFill>
          <a:ln w="12700">
            <a:solidFill>
              <a:srgbClr val="7F8C8D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9" name="Text 27"/>
          <p:cNvSpPr/>
          <p:nvPr/>
        </p:nvSpPr>
        <p:spPr>
          <a:xfrm>
            <a:off x="4828032" y="3456432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132320" y="3456432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828032" y="3657600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 Interaction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828032" y="3877056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Triglyceride + protein film model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846320" y="427939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162535"/>
          </a:solidFill>
          <a:ln w="12700">
            <a:solidFill>
              <a:srgbClr val="162535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36" name="Text 34"/>
          <p:cNvSpPr/>
          <p:nvPr/>
        </p:nvSpPr>
        <p:spPr>
          <a:xfrm>
            <a:off x="274320" y="4992624"/>
            <a:ext cx="7772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β-Lactoglobulin Adsorption at Air–Water Interface  |  CHARMM36m / GROMACS 2020.4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8412480" y="4992624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10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</TotalTime>
  <Words>1110</Words>
  <Application>Microsoft Macintosh PowerPoint</Application>
  <PresentationFormat>On-screen Show (16:9)</PresentationFormat>
  <Paragraphs>244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BLG Adsorption Progress Report</dc:title>
  <dc:subject>PptxGenJS Presentation</dc:subject>
  <dc:creator>PptxGenJS</dc:creator>
  <cp:lastModifiedBy>Chalakon PORNJARIYAWATCH</cp:lastModifiedBy>
  <cp:revision>2</cp:revision>
  <dcterms:created xsi:type="dcterms:W3CDTF">2026-04-21T05:57:12Z</dcterms:created>
  <dcterms:modified xsi:type="dcterms:W3CDTF">2026-04-21T06:56:48Z</dcterms:modified>
</cp:coreProperties>
</file>